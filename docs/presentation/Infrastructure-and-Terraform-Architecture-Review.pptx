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embeddedFontLst>
    <p:embeddedFont>
      <p:font typeface="Poppins Light"/>
      <p:regular r:id="rId201314"/>
    </p:embeddedFont>
    <p:embeddedFont>
      <p:font typeface="Poppins Bold"/>
      <p:regular r:id="rId201315"/>
    </p:embeddedFont>
    <p:embeddedFont>
      <p:font typeface="Roboto Light"/>
      <p:regular r:id="rId201316"/>
    </p:embeddedFont>
    <p:embeddedFont>
      <p:font typeface="Roboto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50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5050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3D3D4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1545803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Infrastructure &amp; Terraform Architecture Review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496119" y="2488481"/>
            <a:ext cx="472276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Highly-Available, Private VPC Deployment of the Patient Management System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96119" y="3143994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Technical review of network architecture, security controls, and IaC patterns — covering Terraform-managed production infrastructure only.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5041"/>
            <a:ext cx="1072976" cy="197197"/>
          </a:xfrm>
          <a:prstGeom prst="roundRect">
            <a:avLst>
              <a:gd name="adj" fmla="val 18494"/>
            </a:avLst>
          </a:prstGeom>
          <a:noFill/>
          <a:ln w="4763">
            <a:solidFill>
              <a:srgbClr val="F2F2F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97210" y="362322"/>
            <a:ext cx="1390427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650" dirty="0">
                <a:solidFill>
                  <a:srgbClr val="F2F2F3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APPLICATION CONTEXT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827336" y="555427"/>
            <a:ext cx="4897041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Application Context &amp; Data Flows</a:t>
            </a:r>
            <a:endParaRPr lang="en-US" sz="2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336" y="1112713"/>
            <a:ext cx="3612207" cy="3612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071" y="2469431"/>
            <a:ext cx="1868239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System Components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709071" y="2721992"/>
            <a:ext cx="3612207" cy="700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FastAPI + Gunicorn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backend tracks patient metadata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S3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stores diagnostic files — never served directly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1-hour pre-signed URLs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enforce time-limited access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JWT auth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gates all API interactions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15145" y="263128"/>
            <a:ext cx="911200" cy="145256"/>
          </a:xfrm>
          <a:prstGeom prst="roundRect">
            <a:avLst>
              <a:gd name="adj" fmla="val 20496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1568276" y="289694"/>
            <a:ext cx="1262137" cy="92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PRODUCTION TOPOLOGY</a:t>
            </a:r>
            <a:endParaRPr lang="en-US" sz="550" dirty="0"/>
          </a:p>
        </p:txBody>
      </p:sp>
      <p:sp>
        <p:nvSpPr>
          <p:cNvPr id="4" name="Text 2"/>
          <p:cNvSpPr/>
          <p:nvPr/>
        </p:nvSpPr>
        <p:spPr>
          <a:xfrm>
            <a:off x="1515145" y="430485"/>
            <a:ext cx="4357762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Production Target AWS Architecture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6150" y="790426"/>
            <a:ext cx="4311625" cy="33266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90461" y="2094932"/>
            <a:ext cx="751984" cy="687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Production AWS Architecture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930217" y="3234084"/>
            <a:ext cx="1118709" cy="343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Application Load Balancer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930217" y="3626888"/>
            <a:ext cx="1118709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Routes API traffic to ASG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594789" y="2047647"/>
            <a:ext cx="1143164" cy="5158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RDS MySQL &amp; Secrets Manager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594789" y="2612399"/>
            <a:ext cx="1143164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Managed DB and secrets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065543" y="3234084"/>
            <a:ext cx="1118709" cy="343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Auto Scaling Group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65543" y="3626888"/>
            <a:ext cx="1118709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Nodes in private subnets (2 AZs)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394857" y="2213481"/>
            <a:ext cx="1143164" cy="171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CloudFront CDN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394857" y="2434338"/>
            <a:ext cx="1143164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Serves React from private S3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970368" y="1067165"/>
            <a:ext cx="1149277" cy="171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Route53 DNS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970368" y="1288022"/>
            <a:ext cx="1149277" cy="2235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5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lavenbloom.xyz &amp; api.lavenbloom.xyz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515145" y="4179317"/>
            <a:ext cx="6570911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Dual-AZ, multi-tier deployment with managed services and zero public-facing compute.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1515145" y="4356795"/>
            <a:ext cx="6113711" cy="523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Route53: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lavenbloom.xyz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CloudFront; 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api.lavenbloom.xyz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ALB</a:t>
            </a:r>
            <a:endParaRPr lang="en-US" sz="65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CloudFront: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Serves static assets from private S3 via Origin Access Control</a:t>
            </a:r>
            <a:endParaRPr lang="en-US" sz="65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ALB: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Routes to ASG nodes in private subnets — no public IPs</a:t>
            </a:r>
            <a:endParaRPr lang="en-US" sz="65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RDS MySQL: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Managed, multi-AZ, encrypted via KMS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394022"/>
            <a:ext cx="1092845" cy="255240"/>
          </a:xfrm>
          <a:prstGeom prst="roundRect">
            <a:avLst>
              <a:gd name="adj" fmla="val 18079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63017" y="435173"/>
            <a:ext cx="1385292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NETWORK DESIGN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80640" y="702469"/>
            <a:ext cx="8192542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VPC Segmentation, High Availability &amp; Routing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480640" y="1464097"/>
            <a:ext cx="3305026" cy="219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VPC: </a:t>
            </a:r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10.0.0.0/16</a:t>
            </a:r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— Dual-AZ Design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80640" y="1833042"/>
            <a:ext cx="3923854" cy="2214339"/>
          </a:xfrm>
          <a:prstGeom prst="roundRect">
            <a:avLst>
              <a:gd name="adj" fmla="val 2605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846" y="1922338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Subnet Type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99481" y="1922338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CIDR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82317" y="1922338"/>
            <a:ext cx="699195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Route Target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560862" y="1922338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AZs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2846" y="2528813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Public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99481" y="2528813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/24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82317" y="2528813"/>
            <a:ext cx="699195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Internet Gateway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60862" y="2528813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a, b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2846" y="3135288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Private (App)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99481" y="3135288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/24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582317" y="3135288"/>
            <a:ext cx="699195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NAT Gateway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0862" y="3135288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a, b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2846" y="3741762"/>
            <a:ext cx="135448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799481" y="3741762"/>
            <a:ext cx="96068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/24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2317" y="3741762"/>
            <a:ext cx="1156395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Local VPC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0862" y="3741762"/>
            <a:ext cx="1158776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a, b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640" y="4197028"/>
            <a:ext cx="3923854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NAT Gateway in public subnet enables outbound internet for ASG nodes. Database subnets have no route to the internet.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44269" y="1464097"/>
            <a:ext cx="2446586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VPC Endpoints (Private)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744269" y="1811610"/>
            <a:ext cx="3923854" cy="695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1000"/>
              </a:lnSpc>
              <a:buSzPct val="100000"/>
              <a:buChar char="•"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Interface Endpoints:</a:t>
            </a:r>
            <a:pPr algn="l" marL="342900" indent="-342900">
              <a:lnSpc>
                <a:spcPct val="131000"/>
              </a:lnSpc>
              <a:buSzPct val="100000"/>
              <a:buChar char="•"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SSM, Secrets Manager — private AWS API access</a:t>
            </a:r>
            <a:endParaRPr lang="en-US" sz="1050" dirty="0"/>
          </a:p>
          <a:p>
            <a:pPr algn="l" marL="342900" indent="-342900">
              <a:lnSpc>
                <a:spcPct val="131000"/>
              </a:lnSpc>
              <a:buSzPct val="100000"/>
              <a:buChar char="•"/>
            </a:pPr>
            <a:r>
              <a:rPr lang="en-US" sz="10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Gateway Endpoint:</a:t>
            </a:r>
            <a:pPr algn="l" marL="342900" indent="-342900">
              <a:lnSpc>
                <a:spcPct val="131000"/>
              </a:lnSpc>
              <a:buSzPct val="100000"/>
              <a:buChar char="•"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S3 — no NAT traversal for bucket traffic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44269" y="2656731"/>
            <a:ext cx="3923854" cy="740718"/>
          </a:xfrm>
          <a:prstGeom prst="roundRect">
            <a:avLst>
              <a:gd name="adj" fmla="val 7787"/>
            </a:avLst>
          </a:prstGeom>
          <a:solidFill>
            <a:srgbClr val="022349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1563" y="2860551"/>
            <a:ext cx="171599" cy="13729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5190455" y="2810768"/>
            <a:ext cx="3340373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Database subnets have zero internet route — RDS is fully isolated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4132" y="370805"/>
            <a:ext cx="1093515" cy="223317"/>
          </a:xfrm>
          <a:prstGeom prst="roundRect">
            <a:avLst>
              <a:gd name="adj" fmla="val 18664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08546" y="408012"/>
            <a:ext cx="1401887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TERRAFORM DESIGN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34132" y="637505"/>
            <a:ext cx="6201221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Terraform Codebase: Modular Design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34132" y="1296293"/>
            <a:ext cx="2493541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Module Directory Structure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132" y="1612181"/>
            <a:ext cx="3986585" cy="3038475"/>
          </a:xfrm>
          <a:prstGeom prst="roundRect">
            <a:avLst>
              <a:gd name="adj" fmla="val 1715"/>
            </a:avLst>
          </a:prstGeom>
          <a:solidFill>
            <a:srgbClr val="121212"/>
          </a:solidFill>
          <a:ln/>
        </p:spPr>
      </p:sp>
      <p:sp>
        <p:nvSpPr>
          <p:cNvPr id="7" name="Shape 5"/>
          <p:cNvSpPr/>
          <p:nvPr/>
        </p:nvSpPr>
        <p:spPr>
          <a:xfrm>
            <a:off x="427955" y="1612181"/>
            <a:ext cx="3998937" cy="3038475"/>
          </a:xfrm>
          <a:prstGeom prst="roundRect">
            <a:avLst>
              <a:gd name="adj" fmla="val 612"/>
            </a:avLst>
          </a:prstGeom>
          <a:solidFill>
            <a:srgbClr val="121212"/>
          </a:solidFill>
          <a:ln/>
        </p:spPr>
      </p:sp>
      <p:sp>
        <p:nvSpPr>
          <p:cNvPr id="8" name="Text 6"/>
          <p:cNvSpPr/>
          <p:nvPr/>
        </p:nvSpPr>
        <p:spPr>
          <a:xfrm>
            <a:off x="582960" y="1736154"/>
            <a:ext cx="3688928" cy="2790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terraform/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├── modules/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vpc/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kms/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s3/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rds/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security-groups/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iam/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secrets/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launch-template/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asg/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├── frontend/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│   └── dns/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├── main.tf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E5E0DF"/>
                </a:solidFill>
                <a:latin typeface="Consolas Light" pitchFamily="34" charset="0"/>
                <a:ea typeface="Consolas Light" pitchFamily="34" charset="-122"/>
                <a:cs typeface="Consolas Light" pitchFamily="34" charset="-120"/>
              </a:rPr>
              <a:t>└── variables.tf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28046" y="1296293"/>
            <a:ext cx="20488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Module Composition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28046" y="1598637"/>
            <a:ext cx="3986585" cy="862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Each module exposes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typed input variables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and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explicit outputs</a:t>
            </a:r>
            <a:endParaRPr lang="en-US" sz="95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Root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main.tf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wires module outputs as downstream inputs</a:t>
            </a:r>
            <a:endParaRPr lang="en-US" sz="95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Reusable across environments — no hard-coded values</a:t>
            </a:r>
            <a:endParaRPr lang="en-US" sz="95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Single-module changes isolated; no cross-module side effects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20204"/>
            <a:ext cx="1401514" cy="266402"/>
          </a:xfrm>
          <a:prstGeom prst="roundRect">
            <a:avLst>
              <a:gd name="adj" fmla="val 17880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962695"/>
            <a:ext cx="168860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TERRAFORM PATTERNS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43310"/>
            <a:ext cx="787434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Terraform Design Patterns &amp; IaC Concepts</a:t>
            </a:r>
            <a:endParaRPr lang="en-US" sz="27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7069" y="1898898"/>
            <a:ext cx="4024015" cy="10912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4077" y="2059707"/>
            <a:ext cx="200791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Dynamic Data Sources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14077" y="2366218"/>
            <a:ext cx="3626197" cy="463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Ubuntu AMI via 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aws_ami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filter; Route53 zone via 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aws_route53_zone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lookup — no hard-coded IDs.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3792" y="1898898"/>
            <a:ext cx="4024089" cy="10912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60801" y="2059707"/>
            <a:ext cx="236882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Dependency Management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860801" y="2366218"/>
            <a:ext cx="3626272" cy="4583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Implicit via resource references; explicit 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depends_on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for non-reference ordering (e.g., endpoints before ASG).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7069" y="3131939"/>
            <a:ext cx="4024015" cy="109128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4077" y="3292748"/>
            <a:ext cx="219045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State-Driven Provisioning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714077" y="3599259"/>
            <a:ext cx="3626197" cy="463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Terraform state tracks real-world resource drift. 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surfaces changes before apply.</a:t>
            </a:r>
            <a:endParaRPr lang="en-US" sz="11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23792" y="3131939"/>
            <a:ext cx="4024089" cy="109128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860801" y="3292748"/>
            <a:ext cx="267079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Dynamic Resource References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4860801" y="3599259"/>
            <a:ext cx="362627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Module outputs resolved at runtime — subnet IDs, security group ARNs wired without static values.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5875" y="274662"/>
            <a:ext cx="1061145" cy="159023"/>
          </a:xfrm>
          <a:prstGeom prst="roundRect">
            <a:avLst>
              <a:gd name="adj" fmla="val 20125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1343025" y="303237"/>
            <a:ext cx="1404045" cy="1018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6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PROVISIONING WORKFLOW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1285875" y="459284"/>
            <a:ext cx="6814245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Infrastructure Orchestration &amp; Dependency Resolution</a:t>
            </a:r>
            <a:endParaRPr lang="en-US" sz="18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1596" y="852934"/>
            <a:ext cx="5980733" cy="31678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09627" y="3116958"/>
            <a:ext cx="1478747" cy="184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1 Networking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304472" y="3354379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VPC, subnets, IGW, NAT, VPC endpoints.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726117" y="1087172"/>
            <a:ext cx="1583903" cy="369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2 Security &amp; Storage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726117" y="1509436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Security groups, KMS, S3, RDS instance.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275111" y="1087172"/>
            <a:ext cx="1583903" cy="369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3 Secrets &amp; Compute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275111" y="1509436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Secrets Manager, launch template, ASG.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833749" y="3117060"/>
            <a:ext cx="1583903" cy="369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Phase 4 Routing &amp; DNS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833749" y="3539325"/>
            <a:ext cx="1583903" cy="247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9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ALB, CloudFront, Route53 records.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285875" y="4092699"/>
            <a:ext cx="7029450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Dependency graph dictates strict ordering — networking resources must exist before compute or storage can reference them.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285875" y="4292054"/>
            <a:ext cx="6572250" cy="5767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1 — Networking:</a:t>
            </a:r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VPC, subnets, IGW, NAT Gateway, VPC Endpoints</a:t>
            </a:r>
            <a:endParaRPr lang="en-US" sz="750" dirty="0"/>
          </a:p>
          <a:p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2 — Security &amp; Storage:</a:t>
            </a:r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Security Groups, KMS, S3, RDS</a:t>
            </a:r>
            <a:endParaRPr lang="en-US" sz="750" dirty="0"/>
          </a:p>
          <a:p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3 — Secrets &amp; Compute:</a:t>
            </a:r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Secrets Manager, Launch Template, ASG</a:t>
            </a:r>
            <a:endParaRPr lang="en-US" sz="750" dirty="0"/>
          </a:p>
          <a:p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Phase 4 — Routing &amp; DNS:</a:t>
            </a:r>
            <a:pPr algn="l" marL="342900" indent="-342900">
              <a:lnSpc>
                <a:spcPct val="111000"/>
              </a:lnSpc>
              <a:buSzPct val="100000"/>
              <a:buChar char="•"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ALB, CloudFront, Route53 records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1871" y="403250"/>
            <a:ext cx="937989" cy="228451"/>
          </a:xfrm>
          <a:prstGeom prst="roundRect">
            <a:avLst>
              <a:gd name="adj" fmla="val 18570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17624" y="441127"/>
            <a:ext cx="1243682" cy="152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COMPUTE LAYER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41871" y="676647"/>
            <a:ext cx="8260259" cy="7890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Compute Automation: Launch Templates &amp; User Data</a:t>
            </a:r>
            <a:endParaRPr lang="en-US" sz="24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871" y="1841897"/>
            <a:ext cx="2690813" cy="26908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45520" y="1746796"/>
            <a:ext cx="2931170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Launch Template Configuration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445520" y="2056507"/>
            <a:ext cx="5261297" cy="651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Private subnet placement — 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9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no public IP</a:t>
            </a:r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assigned</a:t>
            </a:r>
            <a:endParaRPr lang="en-US" sz="950" dirty="0"/>
          </a:p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Security groups attached at launch</a:t>
            </a:r>
            <a:endParaRPr lang="en-US" sz="950" dirty="0"/>
          </a:p>
          <a:p>
            <a:pPr algn="l" marL="342900" indent="-342900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IMDSv2 enforced; instance metadata locked down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445520" y="2820367"/>
            <a:ext cx="2893144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User-Data Bootstrap Sequence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445520" y="3130079"/>
            <a:ext cx="5261297" cy="900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1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System updates via </a:t>
            </a:r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1"/>
            </a:pP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apt upgrade</a:t>
            </a:r>
            <a:endParaRPr lang="en-US" sz="950" dirty="0"/>
          </a:p>
          <a:p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2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Clone repo at tag </a:t>
            </a:r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2"/>
            </a:pP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v1.0.0</a:t>
            </a:r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2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(immutable deploy)</a:t>
            </a:r>
            <a:endParaRPr lang="en-US" sz="950" dirty="0"/>
          </a:p>
          <a:p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3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Create </a:t>
            </a:r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3"/>
            </a:pP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virtualenv</a:t>
            </a:r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3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; install dependencies</a:t>
            </a:r>
            <a:endParaRPr lang="en-US" sz="950" dirty="0"/>
          </a:p>
          <a:p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4"/>
            </a:pPr>
            <a:r>
              <a:rPr lang="en-US" sz="9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Start Gunicorn bound to </a:t>
            </a:r>
            <a:pPr algn="l" marL="342900" indent="-342900">
              <a:lnSpc>
                <a:spcPct val="126000"/>
              </a:lnSpc>
              <a:buSzPct val="100000"/>
              <a:buFont typeface="+mj-lt"/>
              <a:buAutoNum type="arabicPeriod" startAt="4"/>
            </a:pPr>
            <a:r>
              <a:rPr lang="en-US" sz="95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0.0.0.0:8000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45520" y="4157290"/>
            <a:ext cx="5261297" cy="456456"/>
          </a:xfrm>
          <a:prstGeom prst="roundRect">
            <a:avLst>
              <a:gd name="adj" fmla="val 11618"/>
            </a:avLst>
          </a:prstGeom>
          <a:solidFill>
            <a:srgbClr val="02234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1726" y="4342730"/>
            <a:ext cx="157758" cy="12620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5690" y="4290045"/>
            <a:ext cx="5182121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ASG health checks auto-replace unhealthy nodes — zero-touch recovery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9803"/>
            <a:ext cx="1165771" cy="187672"/>
          </a:xfrm>
          <a:prstGeom prst="roundRect">
            <a:avLst>
              <a:gd name="adj" fmla="val 19433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892448" y="362322"/>
            <a:ext cx="1492746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6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SECURITY ARCHITECTURE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827336" y="550664"/>
            <a:ext cx="5774159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Security Engineering &amp; Threat Mitigation</a:t>
            </a:r>
            <a:endParaRPr lang="en-US" sz="2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336" y="1107951"/>
            <a:ext cx="3612207" cy="3612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071" y="2296864"/>
            <a:ext cx="2130475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Defense-in-Depth Layers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709071" y="2549426"/>
            <a:ext cx="3612207" cy="1035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Network isolation: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Private subnets block all direct ingress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Micro-segmentation: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Security groups restrict to minimum required ports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Secrets hygiene: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Loaded in-memory at runtime — never on disk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Data encryption: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S3 SSE-KMS with customer-managed key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Origin protection:</a:t>
            </a:r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CloudFront OAC prevents direct S3 access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34566"/>
            <a:ext cx="1425029" cy="266402"/>
          </a:xfrm>
          <a:prstGeom prst="roundRect">
            <a:avLst>
              <a:gd name="adj" fmla="val 17880"/>
            </a:avLst>
          </a:prstGeom>
          <a:solidFill>
            <a:srgbClr val="252528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977057"/>
            <a:ext cx="1712119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8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OUTCOMES &amp;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57672"/>
            <a:ext cx="8154665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Infrastructure Outcomes &amp; Future Roadmap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394022" y="1913260"/>
            <a:ext cx="4107135" cy="2295674"/>
          </a:xfrm>
          <a:prstGeom prst="roundRect">
            <a:avLst>
              <a:gd name="adj" fmla="val 4446"/>
            </a:avLst>
          </a:prstGeom>
          <a:solidFill>
            <a:srgbClr val="F2F2F3"/>
          </a:solidFill>
          <a:ln/>
        </p:spPr>
      </p:sp>
      <p:sp>
        <p:nvSpPr>
          <p:cNvPr id="6" name="Text 4"/>
          <p:cNvSpPr/>
          <p:nvPr/>
        </p:nvSpPr>
        <p:spPr>
          <a:xfrm>
            <a:off x="535781" y="20550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✓ Achieved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5781" y="2418234"/>
            <a:ext cx="3823618" cy="1736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High availability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dual-AZ, ASG auto-healing, multi-AZ RDS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IaC scaling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modular Terraform, repeatable provisioning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Automated bootstrapping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zero-touch node recovery via user-data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Private-by-default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VPC endpoints, no public compute exposure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49701" y="2055019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→ Roadmap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49701" y="2418234"/>
            <a:ext cx="3902943" cy="1741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S3 Remote State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with DynamoDB locking for team collaboration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Multi-environment workspaces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staging, production isolation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CI/CD pipelines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plan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on PR, 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highlight>
                  <a:srgbClr val="12121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on merge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CloudWatch monitoring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ASG, ALB, RDS metrics and alarms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2026-06-10T07:08:41Z</dcterms:created>
  <dcterms:modified xsi:type="dcterms:W3CDTF">2026-06-10T07:08:41Z</dcterms:modified>
</cp:coreProperties>
</file>