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Poppins Light" panose="00000400000000000000" pitchFamily="2" charset="0"/>
      <p:regular r:id="rId19"/>
    </p:embeddedFont>
    <p:embeddedFont>
      <p:font typeface="Roboto Light" panose="02000000000000000000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12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54580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Infrastructure &amp; Terraform Architecture Review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488481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Highly-Available, Private VPC Deployment of the Patient Management System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14399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Technical review of network architecture, security controls, and IaC patterns — covering Terraform-managed production infrastructure only.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1390426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F2F2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1390427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APPLICATION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4897041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Application Context &amp; Data Flows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12713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2469431"/>
            <a:ext cx="186823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Components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09071" y="2721992"/>
            <a:ext cx="3612207" cy="700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FastAPI + Gunicorn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backend tracks patient metadata</a:t>
            </a:r>
            <a:endParaRPr lang="en-US" sz="10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S3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stores diagnostic files — never served directly</a:t>
            </a:r>
            <a:endParaRPr lang="en-US" sz="10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1-hour pre-signed URLs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enforce time-limited access</a:t>
            </a:r>
            <a:endParaRPr lang="en-US" sz="10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JWT auth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gates all API interactions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5145" y="241663"/>
            <a:ext cx="1130084" cy="166721"/>
          </a:xfrm>
          <a:prstGeom prst="roundRect">
            <a:avLst>
              <a:gd name="adj" fmla="val 20496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1568276" y="289694"/>
            <a:ext cx="1262137" cy="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PRODUCTION TOPOLOGY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15145" y="430485"/>
            <a:ext cx="4357762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Production Target AWS Architecture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193" y="756046"/>
            <a:ext cx="4311625" cy="332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90461" y="2094932"/>
            <a:ext cx="751984" cy="687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Production AWS Architecture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30217" y="3234084"/>
            <a:ext cx="1118709" cy="343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Application Load Balancer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0217" y="3626888"/>
            <a:ext cx="1118709" cy="223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Routes API traffic to ASG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94789" y="2047647"/>
            <a:ext cx="1143164" cy="51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RDS MySQL &amp; Secrets Manager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94789" y="2612399"/>
            <a:ext cx="1143164" cy="223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Managed DB and secrets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065543" y="3234084"/>
            <a:ext cx="1118709" cy="343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 Scaling Group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65543" y="3626888"/>
            <a:ext cx="1118709" cy="223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Nodes in private subnets (2 AZs)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94857" y="2213481"/>
            <a:ext cx="1143164" cy="17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CloudFront CDN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857" y="2434338"/>
            <a:ext cx="1143164" cy="223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Serves React from private S3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970368" y="1067165"/>
            <a:ext cx="1149277" cy="17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Route53 DNS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970368" y="1288022"/>
            <a:ext cx="1149277" cy="223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lavenbloom.xyz &amp; api.lavenbloom.xyz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515145" y="4179317"/>
            <a:ext cx="657091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Dual-AZ, multi-tier deployment with managed services and zero public-facing compute.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15145" y="4356795"/>
            <a:ext cx="6113711" cy="608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Route53: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000" dirty="0" err="1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lavenbloom.xyz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CloudFront; </a:t>
            </a:r>
            <a:r>
              <a:rPr lang="en-US" sz="1000" dirty="0" err="1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api.lavenbloom.xyz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ALB</a:t>
            </a:r>
            <a:endParaRPr lang="en-US" sz="10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CloudFront: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Serves static assets from private S3 via Origin Access Control</a:t>
            </a:r>
            <a:endParaRPr lang="en-US" sz="10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ALB: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Routes to ASG nodes in private subnets — no public IPs</a:t>
            </a:r>
            <a:endParaRPr lang="en-US" sz="10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RDS MySQL: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Managed, multi-AZ, encrypted via KMS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474EC-04EC-E043-9F7B-D017AAC1E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394022"/>
            <a:ext cx="1092845" cy="255240"/>
          </a:xfrm>
          <a:prstGeom prst="roundRect">
            <a:avLst>
              <a:gd name="adj" fmla="val 18079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563017" y="435173"/>
            <a:ext cx="1385292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NETWORK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702469"/>
            <a:ext cx="8192542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VPC Segmentation, High Availability &amp; Routing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0640" y="1464097"/>
            <a:ext cx="3305026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VPC: </a:t>
            </a: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10.0.0.0/16</a:t>
            </a: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— Dual-AZ Design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80640" y="1833042"/>
            <a:ext cx="3923854" cy="2214339"/>
          </a:xfrm>
          <a:prstGeom prst="roundRect">
            <a:avLst>
              <a:gd name="adj" fmla="val 260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2846" y="1922338"/>
            <a:ext cx="135448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Subnet 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99481" y="1922338"/>
            <a:ext cx="96068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CIDR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2317" y="1922338"/>
            <a:ext cx="6991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Route Target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0862" y="1922338"/>
            <a:ext cx="115877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AZs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2846" y="2528813"/>
            <a:ext cx="135448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Public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99481" y="2528813"/>
            <a:ext cx="96068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/24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82317" y="2528813"/>
            <a:ext cx="6991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Internet Gateway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0862" y="2528813"/>
            <a:ext cx="115877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a, 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2846" y="3135288"/>
            <a:ext cx="135448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Private (App)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99481" y="3135288"/>
            <a:ext cx="96068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/24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82317" y="3135288"/>
            <a:ext cx="6991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NAT Gateway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0862" y="3135288"/>
            <a:ext cx="115877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a, 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846" y="3741762"/>
            <a:ext cx="135448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99481" y="3741762"/>
            <a:ext cx="96068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/24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82317" y="3741762"/>
            <a:ext cx="1156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Local VPC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0862" y="3741762"/>
            <a:ext cx="115877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a, 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640" y="4197028"/>
            <a:ext cx="392385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NAT Gateway in public subnet enables outbound internet for ASG nodes. Database subnets have no route to the internet.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44269" y="1464097"/>
            <a:ext cx="244658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VPC Endpoints (Private)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44269" y="1811610"/>
            <a:ext cx="3923854" cy="695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Interface Endpoints:</a:t>
            </a: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SSM, Secrets Manager — private AWS API access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Gateway Endpoint:</a:t>
            </a: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S3 — no NAT traversal for bucket traffic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44269" y="2656731"/>
            <a:ext cx="3923854" cy="740718"/>
          </a:xfrm>
          <a:prstGeom prst="roundRect">
            <a:avLst>
              <a:gd name="adj" fmla="val 7787"/>
            </a:avLst>
          </a:prstGeom>
          <a:solidFill>
            <a:srgbClr val="022349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563" y="2860551"/>
            <a:ext cx="171599" cy="13729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190455" y="2810768"/>
            <a:ext cx="334037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Database subnets have zero internet route — RDS is fully isolated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70805"/>
            <a:ext cx="1093515" cy="223317"/>
          </a:xfrm>
          <a:prstGeom prst="roundRect">
            <a:avLst>
              <a:gd name="adj" fmla="val 18664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508546" y="408012"/>
            <a:ext cx="1401887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TERRAFORM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37505"/>
            <a:ext cx="620122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Terraform Codebase: Modular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4132" y="1296293"/>
            <a:ext cx="24935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Module Directory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132" y="1612181"/>
            <a:ext cx="3986585" cy="3038475"/>
          </a:xfrm>
          <a:prstGeom prst="roundRect">
            <a:avLst>
              <a:gd name="adj" fmla="val 1715"/>
            </a:avLst>
          </a:prstGeom>
          <a:solidFill>
            <a:srgbClr val="121212"/>
          </a:solidFill>
          <a:ln/>
        </p:spPr>
      </p:sp>
      <p:sp>
        <p:nvSpPr>
          <p:cNvPr id="7" name="Shape 5"/>
          <p:cNvSpPr/>
          <p:nvPr/>
        </p:nvSpPr>
        <p:spPr>
          <a:xfrm>
            <a:off x="427955" y="1612181"/>
            <a:ext cx="3998937" cy="3038475"/>
          </a:xfrm>
          <a:prstGeom prst="roundRect">
            <a:avLst>
              <a:gd name="adj" fmla="val 612"/>
            </a:avLst>
          </a:pr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582960" y="1736154"/>
            <a:ext cx="3688928" cy="2790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terraform/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modules/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vpc/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kms/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s3/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rds/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security-groups/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iam/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secrets/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launch-template/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asg/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frontend/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 dns/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main.tf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└── variables.tf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1296293"/>
            <a:ext cx="20488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Module Composition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1598637"/>
            <a:ext cx="3986585" cy="862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module exposes </a:t>
            </a:r>
            <a:r>
              <a:rPr lang="en-US" sz="9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typed input variables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9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explicit outputs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Root </a:t>
            </a: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wires module outputs as downstream inputs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Reusable across environments — no hard-coded values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Single-module changes isolated; no cross-module side effects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20204"/>
            <a:ext cx="1401514" cy="266402"/>
          </a:xfrm>
          <a:prstGeom prst="roundRect">
            <a:avLst>
              <a:gd name="adj" fmla="val 17880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62695"/>
            <a:ext cx="168860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TERRAFORM PATTERNS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43310"/>
            <a:ext cx="78743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Terraform Design Patterns &amp; IaC Concepts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898898"/>
            <a:ext cx="4024015" cy="10912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059707"/>
            <a:ext cx="20079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Dynamic Data Sources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366218"/>
            <a:ext cx="3626197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Ubuntu AMI via 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aws_ami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filter; Route53 zone via 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aws_route53_zone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lookup — no hard-coded IDs.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1898898"/>
            <a:ext cx="4024089" cy="10912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60801" y="2059707"/>
            <a:ext cx="2368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Dependency Management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60801" y="2366218"/>
            <a:ext cx="3626272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Implicit via resource references; explicit 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non-reference ordering (e.g., endpoints before ASG).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131939"/>
            <a:ext cx="4024015" cy="10912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077" y="3292748"/>
            <a:ext cx="21904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State-Driven Provisioning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14077" y="3599259"/>
            <a:ext cx="3626197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Terraform state tracks real-world resource drift. 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surfaces changes before apply.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3131939"/>
            <a:ext cx="4024089" cy="109128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60801" y="3292748"/>
            <a:ext cx="2670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Dynamic Resource References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860801" y="3599259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Module outputs resolved at runtime — subnet IDs, security group ARNs wired without static values.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5875" y="274662"/>
            <a:ext cx="1061145" cy="159023"/>
          </a:xfrm>
          <a:prstGeom prst="roundRect">
            <a:avLst>
              <a:gd name="adj" fmla="val 20125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1343025" y="303237"/>
            <a:ext cx="1404045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PROVISIONING WORKFLOW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85875" y="459284"/>
            <a:ext cx="68142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Infrastructure Orchestration &amp; Dependency Resolution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596" y="852934"/>
            <a:ext cx="5980733" cy="31678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09627" y="3116958"/>
            <a:ext cx="1478747" cy="18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Phase 1 Networking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304472" y="3354379"/>
            <a:ext cx="1583903" cy="24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7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VPC, subnets, IGW, NAT, VPC endpoints.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26117" y="1087172"/>
            <a:ext cx="1583903" cy="36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Phase 2 Security &amp; Storage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26117" y="1509436"/>
            <a:ext cx="1583903" cy="24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7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Security groups, KMS, S3, RDS instance.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275111" y="1087172"/>
            <a:ext cx="1583903" cy="36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Phase 3 Secrets &amp; Compute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75111" y="1509436"/>
            <a:ext cx="1583903" cy="24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Secrets Manager, launch template, ASG.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33749" y="3117060"/>
            <a:ext cx="1583903" cy="36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Phase 4 Routing &amp; DNS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33749" y="3539325"/>
            <a:ext cx="1583903" cy="24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ALB, CloudFront, Route53 records.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85875" y="4092699"/>
            <a:ext cx="70294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Dependency graph dictates strict ordering — networking resources must exist before compute or storage can reference them.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85875" y="4292054"/>
            <a:ext cx="6572250" cy="576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Phase 1 — Networking: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VPC, subnets, IGW, NAT Gateway, VPC Endpoints</a:t>
            </a:r>
            <a:endParaRPr lang="en-US" sz="10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Phase 2 — Security &amp; Storage: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Security Groups, KMS, S3, RDS</a:t>
            </a:r>
            <a:endParaRPr lang="en-US" sz="10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Phase 3 — Secrets &amp; Compute: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Secrets Manager, Launch Template, ASG</a:t>
            </a:r>
            <a:endParaRPr lang="en-US" sz="10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Phase 4 — Routing &amp; DNS: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ALB, CloudFront, Route53 records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403250"/>
            <a:ext cx="937989" cy="228451"/>
          </a:xfrm>
          <a:prstGeom prst="roundRect">
            <a:avLst>
              <a:gd name="adj" fmla="val 18570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517624" y="441127"/>
            <a:ext cx="1243682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COMPUTE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76647"/>
            <a:ext cx="8260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Compute Automation: Launch Templates &amp; User Data</a:t>
            </a:r>
            <a:endParaRPr lang="en-US" sz="2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841897"/>
            <a:ext cx="2690813" cy="26908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45520" y="1746796"/>
            <a:ext cx="293117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Launch Template Configuration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45520" y="2056507"/>
            <a:ext cx="5261297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Private subnet placement — </a:t>
            </a:r>
            <a:r>
              <a:rPr lang="en-US" sz="9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public IP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assigned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Security groups attached at launch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IMDSv2 enforced; instance metadata locked down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445520" y="2820367"/>
            <a:ext cx="28931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User-Data Bootstrap Sequence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45520" y="3130079"/>
            <a:ext cx="5261297" cy="90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System updates via </a:t>
            </a: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apt upgrade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Clone repo at tag </a:t>
            </a: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v1.0.0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(immutable deploy)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 </a:t>
            </a: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virtualenv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; install dependencies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Start Gunicorn bound to </a:t>
            </a: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0.0.0.0:8000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45520" y="4157290"/>
            <a:ext cx="5261297" cy="456456"/>
          </a:xfrm>
          <a:prstGeom prst="roundRect">
            <a:avLst>
              <a:gd name="adj" fmla="val 11618"/>
            </a:avLst>
          </a:prstGeom>
          <a:solidFill>
            <a:srgbClr val="02234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726" y="4342730"/>
            <a:ext cx="157758" cy="1262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5690" y="4290045"/>
            <a:ext cx="51821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ASG health checks auto-replace unhealthy nodes — zero-touch recovery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9803"/>
            <a:ext cx="1165771" cy="187672"/>
          </a:xfrm>
          <a:prstGeom prst="roundRect">
            <a:avLst>
              <a:gd name="adj" fmla="val 1943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62322"/>
            <a:ext cx="1492746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SECURITY ARCHITECTURE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0664"/>
            <a:ext cx="577415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Engineering &amp; Threat Mitigation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07951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2296864"/>
            <a:ext cx="213047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Defense-in-Depth Layers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09071" y="2549426"/>
            <a:ext cx="3612207" cy="1323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Network isolation: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Private subnets block all direct ingress</a:t>
            </a:r>
            <a:endParaRPr lang="en-US" sz="10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Micro-segmentation: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Security groups restrict to minimum required ports</a:t>
            </a:r>
            <a:endParaRPr lang="en-US" sz="10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Secrets hygiene: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Loaded in-memory at runtime — never on disk</a:t>
            </a:r>
            <a:endParaRPr lang="en-US" sz="10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encryption: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S3 SSE-KMS with customer-managed key</a:t>
            </a:r>
            <a:endParaRPr lang="en-US" sz="10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Origin protection:</a:t>
            </a: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CloudFront OAC prevents direct S3 access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34566"/>
            <a:ext cx="1425029" cy="266402"/>
          </a:xfrm>
          <a:prstGeom prst="roundRect">
            <a:avLst>
              <a:gd name="adj" fmla="val 17880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77057"/>
            <a:ext cx="17121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OUTCOMES &amp;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57672"/>
            <a:ext cx="81546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Infrastructure Outcomes &amp; Future Roadmap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913260"/>
            <a:ext cx="4107135" cy="2295674"/>
          </a:xfrm>
          <a:prstGeom prst="roundRect">
            <a:avLst>
              <a:gd name="adj" fmla="val 4446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0550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✓ Achieved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418234"/>
            <a:ext cx="3823618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 availability</a:t>
            </a: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dual-AZ, ASG auto-healing, multi-AZ 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IaC scaling</a:t>
            </a: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modular Terraform, repeatable provisioning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Automated bootstrapping</a:t>
            </a: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zero-touch node recovery via user-data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Private-by-default</a:t>
            </a: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VPC endpoints, no public compute exposure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0550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→ Roadmap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418234"/>
            <a:ext cx="3902943" cy="174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S3 Remote State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with DynamoDB locking for team collaboration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Multi-environment workspaces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staging, production isolation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CI/CD pipelines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on PR, 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on merge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CloudWatch monitoring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ASG, ALB, RDS metrics and alarms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850</Words>
  <Application>Microsoft Office PowerPoint</Application>
  <PresentationFormat>On-screen Show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Poppins Light</vt:lpstr>
      <vt:lpstr>Consolas</vt:lpstr>
      <vt:lpstr>Arial</vt:lpstr>
      <vt:lpstr>Consolas Light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RAPHEL M L</cp:lastModifiedBy>
  <cp:revision>3</cp:revision>
  <dcterms:created xsi:type="dcterms:W3CDTF">2026-06-10T07:08:41Z</dcterms:created>
  <dcterms:modified xsi:type="dcterms:W3CDTF">2026-06-10T10:21:54Z</dcterms:modified>
</cp:coreProperties>
</file>